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charts/chart3.xml" ContentType="application/vnd.openxmlformats-officedocument.drawingml.chart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charts/chart4.xml" ContentType="application/vnd.openxmlformats-officedocument.drawingml.chart+xml"/>
  <Override PartName="/ppt/charts/chart5.xml" ContentType="application/vnd.openxmlformats-officedocument.drawingml.chart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charts/chart6.xml" ContentType="application/vnd.openxmlformats-officedocument.drawingml.chart+xml"/>
  <Override PartName="/ppt/charts/chart7.xml" ContentType="application/vnd.openxmlformats-officedocument.drawingml.chart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charts/chart8.xml" ContentType="application/vnd.openxmlformats-officedocument.drawingml.chart+xml"/>
  <Override PartName="/ppt/charts/chart9.xml" ContentType="application/vnd.openxmlformats-officedocument.drawingml.chart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charts/chart10.xml" ContentType="application/vnd.openxmlformats-officedocument.drawingml.chart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notesMasterIdLst>
    <p:notesMasterId r:id="rId13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notesMaster" Target="notesMasters/notesMaster1.xml"/><Relationship Id="rId14" Type="http://schemas.openxmlformats.org/officeDocument/2006/relationships/presProps" Target="presProps.xml"/><Relationship Id="rId15" Type="http://schemas.openxmlformats.org/officeDocument/2006/relationships/viewProps" Target="viewProps.xml"/><Relationship Id="rId16" Type="http://schemas.openxmlformats.org/officeDocument/2006/relationships/theme" Target="theme/theme1.xml"/><Relationship Id="rId17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2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_rels/chart3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3.xlsx"/></Relationships>
</file>

<file path=ppt/charts/_rels/chart4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4.xlsx"/></Relationships>
</file>

<file path=ppt/charts/_rels/chart5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5.xlsx"/></Relationships>
</file>

<file path=ppt/charts/_rels/chart6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6.xlsx"/></Relationships>
</file>

<file path=ppt/charts/_rels/chart7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7.xlsx"/></Relationships>
</file>

<file path=ppt/charts/_rels/chart8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8.xlsx"/></Relationships>
</file>

<file path=ppt/charts/_rels/chart9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9.xlsx"/></Relationships>
</file>

<file path=ppt/charts/_rels/chart10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0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0"/>
  <c:chart>
    <c:title>
      <c:tx>
        <c:rich>
          <a:bodyPr/>
          <a:lstStyle/>
          <a:p>
            <a:pPr>
              <a:defRPr sz="1300" b="0" i="0" u="none" strike="noStrike">
                <a:solidFill>
                  <a:srgbClr val="334155"/>
                </a:solidFill>
                <a:latin typeface="Arial"/>
              </a:defRPr>
            </a:pPr>
            <a:r>
              <a:rPr sz="1300" b="0" i="0" u="none" strike="noStrike">
                <a:solidFill>
                  <a:srgbClr val="334155"/>
                </a:solidFill>
                <a:latin typeface="Arial"/>
              </a:rPr>
              <a:t>Attrition by Gender (%)</a:t>
            </a:r>
          </a:p>
        </c:rich>
      </c:tx>
      <c:layout/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Attrition %</c:v>
                </c:pt>
              </c:strCache>
            </c:strRef>
          </c:tx>
          <c:spPr>
            <a:solidFill>
              <a:srgbClr val="0EA5E9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400" u="none">
                    <a:solidFill>
                      <a:srgbClr val="0F172A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dPt>
            <c:idx val="0"/>
            <c:invertIfNegative val="0"/>
            <c:bubble3D val="0"/>
            <c:spPr>
              <a:solidFill>
                <a:srgbClr val="0EA5E9"/>
              </a:solidFill>
              <a:effectLst/>
            </c:spPr>
          </c:dPt>
          <c:dPt>
            <c:idx val="1"/>
            <c:invertIfNegative val="0"/>
            <c:bubble3D val="0"/>
            <c:spPr>
              <a:solidFill>
                <a:srgbClr val="60A5FA"/>
              </a:solidFill>
              <a:effectLst/>
            </c:spPr>
          </c:dPt>
          <c:cat>
            <c:multiLvlStrRef>
              <c:f>Sheet1!$A$2:$A$3</c:f>
              <c:multiLvlStrCache>
                <c:ptCount val="2"/>
                <c:lvl>
                  <c:pt idx="0">
                    <c:v>Female</c:v>
                  </c:pt>
                  <c:pt idx="1">
                    <c:v>Male</c:v>
                  </c:pt>
                </c:lvl>
              </c:multiLvlStrCache>
            </c:multiLvl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53.16</c:v>
                </c:pt>
                <c:pt idx="1">
                  <c:v>42.94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400" u="none">
                  <a:solidFill>
                    <a:srgbClr val="0F172A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4748B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100"/>
          <c:min val="0"/>
        </c:scaling>
        <c:delete val="0"/>
        <c:axPos val="l"/>
        <c:majorGridlines>
          <c:spPr>
            <a:ln w="6350" cap="flat">
              <a:solidFill>
                <a:srgbClr val="E2E8F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4748B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0"/>
  <c:chart>
    <c:title>
      <c:tx>
        <c:rich>
          <a:bodyPr/>
          <a:lstStyle/>
          <a:p>
            <a:pPr>
              <a:defRPr sz="1300" b="0" i="0" u="none" strike="noStrike">
                <a:solidFill>
                  <a:srgbClr val="334155"/>
                </a:solidFill>
                <a:latin typeface="Arial"/>
              </a:defRPr>
            </a:pPr>
            <a:r>
              <a:rPr sz="1300" b="0" i="0" u="none" strike="noStrike">
                <a:solidFill>
                  <a:srgbClr val="334155"/>
                </a:solidFill>
                <a:latin typeface="Arial"/>
              </a:rPr>
              <a:t>Attrition by Marital Status (%)</a:t>
            </a:r>
          </a:p>
        </c:rich>
      </c:tx>
      <c:layout/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Attrition %</c:v>
                </c:pt>
              </c:strCache>
            </c:strRef>
          </c:tx>
          <c:spPr>
            <a:solidFill>
              <a:srgbClr val="EF4444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400" u="none">
                    <a:solidFill>
                      <a:srgbClr val="0F172A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dPt>
            <c:idx val="0"/>
            <c:invertIfNegative val="0"/>
            <c:bubble3D val="0"/>
            <c:spPr>
              <a:solidFill>
                <a:srgbClr val="EF4444"/>
              </a:solidFill>
              <a:effectLst/>
            </c:spPr>
          </c:dPt>
          <c:dPt>
            <c:idx val="1"/>
            <c:invertIfNegative val="0"/>
            <c:bubble3D val="0"/>
            <c:spPr>
              <a:solidFill>
                <a:srgbClr val="F59E0B"/>
              </a:solidFill>
              <a:effectLst/>
            </c:spPr>
          </c:dPt>
          <c:dPt>
            <c:idx val="2"/>
            <c:invertIfNegative val="0"/>
            <c:bubble3D val="0"/>
            <c:spPr>
              <a:solidFill>
                <a:srgbClr val="10B981"/>
              </a:solidFill>
              <a:effectLst/>
            </c:spPr>
          </c:dPt>
          <c:cat>
            <c:multiLvlStrRef>
              <c:f>Sheet1!$A$2:$A$4</c:f>
              <c:multiLvlStrCache>
                <c:ptCount val="3"/>
                <c:lvl>
                  <c:pt idx="0">
                    <c:v>Single</c:v>
                  </c:pt>
                  <c:pt idx="1">
                    <c:v>Divorced</c:v>
                  </c:pt>
                  <c:pt idx="2">
                    <c:v>Married</c:v>
                  </c:pt>
                </c:lvl>
              </c:multiLvlStrCache>
            </c:multiLvl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66.83</c:v>
                </c:pt>
                <c:pt idx="1">
                  <c:v>40.7</c:v>
                </c:pt>
                <c:pt idx="2">
                  <c:v>36.15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400" u="none">
                  <a:solidFill>
                    <a:srgbClr val="0F172A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4748B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100"/>
          <c:min val="0"/>
        </c:scaling>
        <c:delete val="0"/>
        <c:axPos val="l"/>
        <c:majorGridlines>
          <c:spPr>
            <a:ln w="6350" cap="flat">
              <a:solidFill>
                <a:srgbClr val="E2E8F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4748B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300" b="0" i="0" u="none" strike="noStrike">
                <a:solidFill>
                  <a:srgbClr val="334155"/>
                </a:solidFill>
                <a:latin typeface="Arial"/>
              </a:defRPr>
            </a:pPr>
            <a:r>
              <a:rPr sz="1300" b="0" i="0" u="none" strike="noStrike">
                <a:solidFill>
                  <a:srgbClr val="334155"/>
                </a:solidFill>
                <a:latin typeface="Arial"/>
              </a:rPr>
              <a:t>Attrition by Job Level (%)</a:t>
            </a:r>
          </a:p>
        </c:rich>
      </c:tx>
      <c:layout/>
      <c:overlay val="0"/>
    </c:title>
    <c:autoTitleDeleted val="0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Attrition %</c:v>
                </c:pt>
              </c:strCache>
            </c:strRef>
          </c:tx>
          <c:spPr>
            <a:solidFill>
              <a:srgbClr val="10B981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300" u="none">
                    <a:solidFill>
                      <a:srgbClr val="0F172A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dPt>
            <c:idx val="0"/>
            <c:invertIfNegative val="0"/>
            <c:bubble3D val="0"/>
            <c:spPr>
              <a:solidFill>
                <a:srgbClr val="10B981"/>
              </a:solidFill>
              <a:effectLst/>
            </c:spPr>
          </c:dPt>
          <c:dPt>
            <c:idx val="1"/>
            <c:invertIfNegative val="0"/>
            <c:bubble3D val="0"/>
            <c:spPr>
              <a:solidFill>
                <a:srgbClr val="F59E0B"/>
              </a:solidFill>
              <a:effectLst/>
            </c:spPr>
          </c:dPt>
          <c:dPt>
            <c:idx val="2"/>
            <c:invertIfNegative val="0"/>
            <c:bubble3D val="0"/>
            <c:spPr>
              <a:solidFill>
                <a:srgbClr val="EF4444"/>
              </a:solidFill>
              <a:effectLst/>
            </c:spPr>
          </c:dPt>
          <c:cat>
            <c:multiLvlStrRef>
              <c:f>Sheet1!$A$2:$A$4</c:f>
              <c:multiLvlStrCache>
                <c:ptCount val="3"/>
                <c:lvl>
                  <c:pt idx="0">
                    <c:v>Senior Level</c:v>
                  </c:pt>
                  <c:pt idx="1">
                    <c:v>Mid Level</c:v>
                  </c:pt>
                  <c:pt idx="2">
                    <c:v>Entry Level</c:v>
                  </c:pt>
                </c:lvl>
              </c:multiLvlStrCache>
            </c:multiLvl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20.31</c:v>
                </c:pt>
                <c:pt idx="1">
                  <c:v>45.56</c:v>
                </c:pt>
                <c:pt idx="2">
                  <c:v>63.19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300" u="none">
                  <a:solidFill>
                    <a:srgbClr val="0F172A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334155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100"/>
        </c:scaling>
        <c:delete val="0"/>
        <c:axPos val="b"/>
        <c:majorGridlines>
          <c:spPr>
            <a:ln w="6350" cap="flat">
              <a:solidFill>
                <a:srgbClr val="E2E8F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4748B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200" b="0" i="0" u="none" strike="noStrike">
                <a:solidFill>
                  <a:srgbClr val="334155"/>
                </a:solidFill>
                <a:latin typeface="Arial"/>
              </a:defRPr>
            </a:pPr>
            <a:r>
              <a:rPr sz="1200" b="0" i="0" u="none" strike="noStrike">
                <a:solidFill>
                  <a:srgbClr val="334155"/>
                </a:solidFill>
                <a:latin typeface="Arial"/>
              </a:rPr>
              <a:t>Attrition by Work-Life Balance (%)</a:t>
            </a:r>
          </a:p>
        </c:rich>
      </c:tx>
      <c:layout/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Attrition %</c:v>
                </c:pt>
              </c:strCache>
            </c:strRef>
          </c:tx>
          <c:spPr>
            <a:solidFill>
              <a:srgbClr val="EF4444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F172A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dPt>
            <c:idx val="0"/>
            <c:invertIfNegative val="0"/>
            <c:bubble3D val="0"/>
            <c:spPr>
              <a:solidFill>
                <a:srgbClr val="EF4444"/>
              </a:solidFill>
              <a:effectLst/>
            </c:spPr>
          </c:dPt>
          <c:dPt>
            <c:idx val="1"/>
            <c:invertIfNegative val="0"/>
            <c:bubble3D val="0"/>
            <c:spPr>
              <a:solidFill>
                <a:srgbClr val="F59E0B"/>
              </a:solidFill>
              <a:effectLst/>
            </c:spPr>
          </c:dPt>
          <c:dPt>
            <c:idx val="2"/>
            <c:invertIfNegative val="0"/>
            <c:bubble3D val="0"/>
            <c:spPr>
              <a:solidFill>
                <a:srgbClr val="34D399"/>
              </a:solidFill>
              <a:effectLst/>
            </c:spPr>
          </c:dPt>
          <c:dPt>
            <c:idx val="3"/>
            <c:invertIfNegative val="0"/>
            <c:bubble3D val="0"/>
            <c:spPr>
              <a:solidFill>
                <a:srgbClr val="10B981"/>
              </a:solidFill>
              <a:effectLst/>
            </c:spPr>
          </c:dPt>
          <c:cat>
            <c:multiLvlStrRef>
              <c:f>Sheet1!$A$2:$A$5</c:f>
              <c:multiLvlStrCache>
                <c:ptCount val="4"/>
                <c:lvl>
                  <c:pt idx="0">
                    <c:v>Poor</c:v>
                  </c:pt>
                  <c:pt idx="1">
                    <c:v>Fair</c:v>
                  </c:pt>
                  <c:pt idx="2">
                    <c:v>Good</c:v>
                  </c:pt>
                  <c:pt idx="3">
                    <c:v>Excellent</c:v>
                  </c:pt>
                </c:lvl>
              </c:multiLvlStrCache>
            </c:multiLvl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60.11</c:v>
                </c:pt>
                <c:pt idx="1">
                  <c:v>57.46</c:v>
                </c:pt>
                <c:pt idx="2">
                  <c:v>40.56</c:v>
                </c:pt>
                <c:pt idx="3">
                  <c:v>35.81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F172A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4748B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80"/>
        </c:scaling>
        <c:delete val="0"/>
        <c:axPos val="l"/>
        <c:majorGridlines>
          <c:spPr>
            <a:ln w="6350" cap="flat">
              <a:solidFill>
                <a:srgbClr val="E2E8F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4748B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charts/chart5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200" b="0" i="0" u="none" strike="noStrike">
                <a:solidFill>
                  <a:srgbClr val="334155"/>
                </a:solidFill>
                <a:latin typeface="Arial"/>
              </a:defRPr>
            </a:pPr>
            <a:r>
              <a:rPr sz="1200" b="0" i="0" u="none" strike="noStrike">
                <a:solidFill>
                  <a:srgbClr val="334155"/>
                </a:solidFill>
                <a:latin typeface="Arial"/>
              </a:rPr>
              <a:t>Attrition by Job Satisfaction (%)</a:t>
            </a:r>
          </a:p>
        </c:rich>
      </c:tx>
      <c:layout/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Attrition %</c:v>
                </c:pt>
              </c:strCache>
            </c:strRef>
          </c:tx>
          <c:spPr>
            <a:solidFill>
              <a:srgbClr val="EF4444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F172A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dPt>
            <c:idx val="0"/>
            <c:invertIfNegative val="0"/>
            <c:bubble3D val="0"/>
            <c:spPr>
              <a:solidFill>
                <a:srgbClr val="EF4444"/>
              </a:solidFill>
              <a:effectLst/>
            </c:spPr>
          </c:dPt>
          <c:dPt>
            <c:idx val="1"/>
            <c:invertIfNegative val="0"/>
            <c:bubble3D val="0"/>
            <c:spPr>
              <a:solidFill>
                <a:srgbClr val="F59E0B"/>
              </a:solidFill>
              <a:effectLst/>
            </c:spPr>
          </c:dPt>
          <c:dPt>
            <c:idx val="2"/>
            <c:invertIfNegative val="0"/>
            <c:bubble3D val="0"/>
            <c:spPr>
              <a:solidFill>
                <a:srgbClr val="10B981"/>
              </a:solidFill>
              <a:effectLst/>
            </c:spPr>
          </c:dPt>
          <c:dPt>
            <c:idx val="3"/>
            <c:invertIfNegative val="0"/>
            <c:bubble3D val="0"/>
            <c:spPr>
              <a:solidFill>
                <a:srgbClr val="F97316"/>
              </a:solidFill>
              <a:effectLst/>
            </c:spPr>
          </c:dPt>
          <c:cat>
            <c:multiLvlStrRef>
              <c:f>Sheet1!$A$2:$A$5</c:f>
              <c:multiLvlStrCache>
                <c:ptCount val="4"/>
                <c:lvl>
                  <c:pt idx="0">
                    <c:v>Low</c:v>
                  </c:pt>
                  <c:pt idx="1">
                    <c:v>Medium</c:v>
                  </c:pt>
                  <c:pt idx="2">
                    <c:v>High</c:v>
                  </c:pt>
                  <c:pt idx="3">
                    <c:v>Very High</c:v>
                  </c:pt>
                </c:lvl>
              </c:multiLvlStrCache>
            </c:multiLvl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52.42</c:v>
                </c:pt>
                <c:pt idx="1">
                  <c:v>45.32</c:v>
                </c:pt>
                <c:pt idx="2">
                  <c:v>45.3</c:v>
                </c:pt>
                <c:pt idx="3">
                  <c:v>52.89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F172A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4748B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80"/>
        </c:scaling>
        <c:delete val="0"/>
        <c:axPos val="l"/>
        <c:majorGridlines>
          <c:spPr>
            <a:ln w="6350" cap="flat">
              <a:solidFill>
                <a:srgbClr val="E2E8F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4748B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charts/chart6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pie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Share</c:v>
                </c:pt>
              </c:strCache>
            </c:strRef>
          </c:tx>
          <c:spPr>
            <a:solidFill>
              <a:schemeClr val="accent1"/>
            </a:solidFill>
            <a:ln w="9525" cap="flat">
              <a:solidFill>
                <a:srgbClr val="F9F9F9"/>
              </a:solidFill>
              <a:prstDash val="solid"/>
              <a:round/>
            </a:ln>
            <a:effectLst/>
          </c:spPr>
          <c:dPt>
            <c:idx val="0"/>
            <c:bubble3D val="0"/>
            <c:spPr>
              <a:solidFill>
                <a:srgbClr val="EF4444"/>
              </a:solidFill>
              <a:effectLst/>
            </c:spPr>
          </c:dPt>
          <c:dPt>
            <c:idx val="1"/>
            <c:bubble3D val="0"/>
            <c:spPr>
              <a:solidFill>
                <a:srgbClr val="10B981"/>
              </a:solidFill>
              <a:effectLst/>
            </c:spPr>
          </c:dPt>
          <c:dLbls>
            <c:dLbl>
              <c:idx val="0"/>
              <c:numFmt formatCode="0%" sourceLinked="0"/>
              <c:spPr/>
              <c:txPr>
                <a:bodyPr/>
                <a:lstStyle/>
                <a:p>
                  <a:pPr>
                    <a:defRPr sz="1200" b="0" i="0" u="none" strike="noStrike">
                      <a:solidFill>
                        <a:srgbClr val="000000"/>
                      </a:solidFill>
                      <a:latin typeface="Arial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</c:dLbl>
            <c:dLbl>
              <c:idx val="1"/>
              <c:numFmt formatCode="0%" sourceLinked="0"/>
              <c:spPr/>
              <c:txPr>
                <a:bodyPr/>
                <a:lstStyle/>
                <a:p>
                  <a:pPr>
                    <a:defRPr sz="1200" b="0" i="0" u="none" strike="noStrike">
                      <a:solidFill>
                        <a:srgbClr val="000000"/>
                      </a:solidFill>
                      <a:latin typeface="Arial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</c:dLbl>
            <c:numFmt formatCode="0%" sourceLinked="0"/>
            <c:txPr>
              <a:bodyPr/>
              <a:lstStyle/>
              <a:p>
                <a:pPr>
                  <a:defRPr sz="1800" b="0" i="0" u="none" strike="noStrik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dLblPos val="ctr"/>
            <c:showLegendKey val="0"/>
            <c:showVal val="0"/>
            <c:showCatName val="1"/>
            <c:showSerName val="0"/>
            <c:showPercent val="1"/>
            <c:showBubbleSize val="0"/>
            <c:showLeaderLines val="0"/>
          </c:dLbls>
          <c:cat>
            <c:strRef>
              <c:f>Sheet1!$A$2:$A$3</c:f>
              <c:strCache>
                <c:ptCount val="2"/>
                <c:pt idx="0">
                  <c:v>In-Office (52.9% attrition)</c:v>
                </c:pt>
                <c:pt idx="1">
                  <c:v>Remote (24.9% attrition)</c:v>
                </c:pt>
              </c:strCache>
            </c:strRef>
          </c:cat>
          <c:val>
            <c:numRef>
              <c:f>Sheet1!$B$2:$B$3</c:f>
              <c:numCache>
                <c:ptCount val="2"/>
                <c:pt idx="0">
                  <c:v>52.89</c:v>
                </c:pt>
                <c:pt idx="1">
                  <c:v>24.86</c:v>
                </c:pt>
              </c:numCache>
            </c:numRef>
          </c:val>
        </c:ser>
        <c:firstSliceAng val="0"/>
      </c:pieChart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1000">
              <a:solidFill>
                <a:srgbClr val="334155"/>
              </a:solidFill>
            </a:defRPr>
          </a:pPr>
          <a:endParaRPr lang="en-US"/>
        </a:p>
      </c:txPr>
    </c:legend>
    <c:plotVisOnly val="1"/>
    <c:dispBlanksAs val="span"/>
  </c:chart>
  <c:spPr>
    <a:solidFill>
      <a:srgbClr val="E0F2FE"/>
    </a:solidFill>
    <a:ln>
      <a:noFill/>
    </a:ln>
    <a:effectLst/>
  </c:spPr>
  <c:externalData r:id="rId1">
    <c:autoUpdate val="0"/>
  </c:externalData>
</c:chartSpace>
</file>

<file path=ppt/charts/chart7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Avg Miles</c:v>
                </c:pt>
              </c:strCache>
            </c:strRef>
          </c:tx>
          <c:spPr>
            <a:solidFill>
              <a:srgbClr val="10B981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300" u="none">
                    <a:solidFill>
                      <a:srgbClr val="0F172A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dPt>
            <c:idx val="0"/>
            <c:invertIfNegative val="0"/>
            <c:bubble3D val="0"/>
            <c:spPr>
              <a:solidFill>
                <a:srgbClr val="10B981"/>
              </a:solidFill>
              <a:effectLst/>
            </c:spPr>
          </c:dPt>
          <c:dPt>
            <c:idx val="1"/>
            <c:invertIfNegative val="0"/>
            <c:bubble3D val="0"/>
            <c:spPr>
              <a:solidFill>
                <a:srgbClr val="EF4444"/>
              </a:solidFill>
              <a:effectLst/>
            </c:spPr>
          </c:dPt>
          <c:cat>
            <c:multiLvlStrRef>
              <c:f>Sheet1!$A$2:$A$3</c:f>
              <c:multiLvlStrCache>
                <c:ptCount val="2"/>
                <c:lvl>
                  <c:pt idx="0">
                    <c:v>Stayed</c:v>
                  </c:pt>
                  <c:pt idx="1">
                    <c:v>Left</c:v>
                  </c:pt>
                </c:lvl>
              </c:multiLvlStrCache>
            </c:multiLvl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47.42</c:v>
                </c:pt>
                <c:pt idx="1">
                  <c:v>52.86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300" u="none">
                  <a:solidFill>
                    <a:srgbClr val="0F172A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334155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56"/>
          <c:min val="44"/>
        </c:scaling>
        <c:delete val="0"/>
        <c:axPos val="l"/>
        <c:majorGridlines>
          <c:spPr>
            <a:ln w="6350" cap="flat">
              <a:solidFill>
                <a:srgbClr val="E2E8F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4748B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solidFill>
      <a:srgbClr val="FFF7ED"/>
    </a:solidFill>
    <a:ln>
      <a:noFill/>
    </a:ln>
    <a:effectLst/>
  </c:spPr>
  <c:externalData r:id="rId1">
    <c:autoUpdate val="0"/>
  </c:externalData>
</c:chartSpace>
</file>

<file path=ppt/charts/chart8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200" b="0" i="0" u="none" strike="noStrike">
                <a:solidFill>
                  <a:srgbClr val="334155"/>
                </a:solidFill>
                <a:latin typeface="Arial"/>
              </a:defRPr>
            </a:pPr>
            <a:r>
              <a:rPr sz="1200" b="0" i="0" u="none" strike="noStrike">
                <a:solidFill>
                  <a:srgbClr val="334155"/>
                </a:solidFill>
                <a:latin typeface="Arial"/>
              </a:rPr>
              <a:t>Avg Promotions (Stayed vs Left)</a:t>
            </a:r>
          </a:p>
        </c:rich>
      </c:tx>
      <c:layout/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Avg Promotions</c:v>
                </c:pt>
              </c:strCache>
            </c:strRef>
          </c:tx>
          <c:spPr>
            <a:solidFill>
              <a:srgbClr val="10B981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400" u="none">
                    <a:solidFill>
                      <a:srgbClr val="0F172A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dPt>
            <c:idx val="0"/>
            <c:invertIfNegative val="0"/>
            <c:bubble3D val="0"/>
            <c:spPr>
              <a:solidFill>
                <a:srgbClr val="10B981"/>
              </a:solidFill>
              <a:effectLst/>
            </c:spPr>
          </c:dPt>
          <c:dPt>
            <c:idx val="1"/>
            <c:invertIfNegative val="0"/>
            <c:bubble3D val="0"/>
            <c:spPr>
              <a:solidFill>
                <a:srgbClr val="EF4444"/>
              </a:solidFill>
              <a:effectLst/>
            </c:spPr>
          </c:dPt>
          <c:cat>
            <c:multiLvlStrRef>
              <c:f>Sheet1!$A$2:$A$3</c:f>
              <c:multiLvlStrCache>
                <c:ptCount val="2"/>
                <c:lvl>
                  <c:pt idx="0">
                    <c:v>Stayed</c:v>
                  </c:pt>
                  <c:pt idx="1">
                    <c:v>Left</c:v>
                  </c:pt>
                </c:lvl>
              </c:multiLvlStrCache>
            </c:multiLvl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0.91</c:v>
                </c:pt>
                <c:pt idx="1">
                  <c:v>0.75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400" u="none">
                  <a:solidFill>
                    <a:srgbClr val="0F172A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334155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1.5"/>
          <c:min val="0"/>
        </c:scaling>
        <c:delete val="0"/>
        <c:axPos val="l"/>
        <c:majorGridlines>
          <c:spPr>
            <a:ln w="6350" cap="flat">
              <a:solidFill>
                <a:srgbClr val="E2E8F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4748B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charts/chart9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200" b="0" i="0" u="none" strike="noStrike">
                <a:solidFill>
                  <a:srgbClr val="334155"/>
                </a:solidFill>
                <a:latin typeface="Arial"/>
              </a:defRPr>
            </a:pPr>
            <a:r>
              <a:rPr sz="1200" b="0" i="0" u="none" strike="noStrike">
                <a:solidFill>
                  <a:srgbClr val="334155"/>
                </a:solidFill>
                <a:latin typeface="Arial"/>
              </a:rPr>
              <a:t>Avg Monthly Income ($)</a:t>
            </a:r>
          </a:p>
        </c:rich>
      </c:tx>
      <c:layout/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Monthly Income ($)</c:v>
                </c:pt>
              </c:strCache>
            </c:strRef>
          </c:tx>
          <c:spPr>
            <a:solidFill>
              <a:srgbClr val="10B981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F172A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dPt>
            <c:idx val="0"/>
            <c:invertIfNegative val="0"/>
            <c:bubble3D val="0"/>
            <c:spPr>
              <a:solidFill>
                <a:srgbClr val="10B981"/>
              </a:solidFill>
              <a:effectLst/>
            </c:spPr>
          </c:dPt>
          <c:dPt>
            <c:idx val="1"/>
            <c:invertIfNegative val="0"/>
            <c:bubble3D val="0"/>
            <c:spPr>
              <a:solidFill>
                <a:srgbClr val="EF4444"/>
              </a:solidFill>
              <a:effectLst/>
            </c:spPr>
          </c:dPt>
          <c:cat>
            <c:multiLvlStrRef>
              <c:f>Sheet1!$A$2:$A$3</c:f>
              <c:multiLvlStrCache>
                <c:ptCount val="2"/>
                <c:lvl>
                  <c:pt idx="0">
                    <c:v>Stayed</c:v>
                  </c:pt>
                  <c:pt idx="1">
                    <c:v>Left</c:v>
                  </c:pt>
                </c:lvl>
              </c:multiLvlStrCache>
            </c:multiLvl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7325.7</c:v>
                </c:pt>
                <c:pt idx="1">
                  <c:v>7276.69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F172A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334155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7400"/>
          <c:min val="7200"/>
        </c:scaling>
        <c:delete val="0"/>
        <c:axPos val="l"/>
        <c:majorGridlines>
          <c:spPr>
            <a:ln w="6350" cap="flat">
              <a:solidFill>
                <a:srgbClr val="E2E8F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4748B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charts/chart10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200" b="0" i="0" u="none" strike="noStrike">
                <a:solidFill>
                  <a:srgbClr val="334155"/>
                </a:solidFill>
                <a:latin typeface="Arial"/>
              </a:defRPr>
            </a:pPr>
            <a:r>
              <a:rPr sz="1200" b="0" i="0" u="none" strike="noStrike">
                <a:solidFill>
                  <a:srgbClr val="334155"/>
                </a:solidFill>
                <a:latin typeface="Arial"/>
              </a:rPr>
              <a:t>Attrition by Company Reputation (%)</a:t>
            </a:r>
          </a:p>
        </c:rich>
      </c:tx>
      <c:layout/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Attrition %</c:v>
                </c:pt>
              </c:strCache>
            </c:strRef>
          </c:tx>
          <c:spPr>
            <a:solidFill>
              <a:srgbClr val="EF4444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300" u="none">
                    <a:solidFill>
                      <a:srgbClr val="0F172A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dPt>
            <c:idx val="0"/>
            <c:invertIfNegative val="0"/>
            <c:bubble3D val="0"/>
            <c:spPr>
              <a:solidFill>
                <a:srgbClr val="EF4444"/>
              </a:solidFill>
              <a:effectLst/>
            </c:spPr>
          </c:dPt>
          <c:dPt>
            <c:idx val="1"/>
            <c:invertIfNegative val="0"/>
            <c:bubble3D val="0"/>
            <c:spPr>
              <a:solidFill>
                <a:srgbClr val="F59E0B"/>
              </a:solidFill>
              <a:effectLst/>
            </c:spPr>
          </c:dPt>
          <c:dPt>
            <c:idx val="2"/>
            <c:invertIfNegative val="0"/>
            <c:bubble3D val="0"/>
            <c:spPr>
              <a:solidFill>
                <a:srgbClr val="10B981"/>
              </a:solidFill>
              <a:effectLst/>
            </c:spPr>
          </c:dPt>
          <c:dPt>
            <c:idx val="3"/>
            <c:invertIfNegative val="0"/>
            <c:bubble3D val="0"/>
            <c:spPr>
              <a:solidFill>
                <a:srgbClr val="34D399"/>
              </a:solidFill>
              <a:effectLst/>
            </c:spPr>
          </c:dPt>
          <c:cat>
            <c:multiLvlStrRef>
              <c:f>Sheet1!$A$2:$A$5</c:f>
              <c:multiLvlStrCache>
                <c:ptCount val="4"/>
                <c:lvl>
                  <c:pt idx="0">
                    <c:v>Poor</c:v>
                  </c:pt>
                  <c:pt idx="1">
                    <c:v>Fair</c:v>
                  </c:pt>
                  <c:pt idx="2">
                    <c:v>Good</c:v>
                  </c:pt>
                  <c:pt idx="3">
                    <c:v>Excellent</c:v>
                  </c:pt>
                </c:lvl>
              </c:multiLvlStrCache>
            </c:multiLvl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56.5</c:v>
                </c:pt>
                <c:pt idx="1">
                  <c:v>51.94</c:v>
                </c:pt>
                <c:pt idx="2">
                  <c:v>42.91</c:v>
                </c:pt>
                <c:pt idx="3">
                  <c:v>43.92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300" u="none">
                  <a:solidFill>
                    <a:srgbClr val="0F172A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4748B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70"/>
        </c:scaling>
        <c:delete val="0"/>
        <c:axPos val="l"/>
        <c:majorGridlines>
          <c:spPr>
            <a:ln w="6350" cap="flat">
              <a:solidFill>
                <a:srgbClr val="E2E8F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4748B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chart" Target="/ppt/charts/chart2.xml"/><Relationship Id="rId3" Type="http://schemas.openxmlformats.org/officeDocument/2006/relationships/image" Target="../media/image-3-1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3.xml"/><Relationship Id="rId2" Type="http://schemas.openxmlformats.org/officeDocument/2006/relationships/image" Target="../media/image-4-1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4.xml"/><Relationship Id="rId2" Type="http://schemas.openxmlformats.org/officeDocument/2006/relationships/chart" Target="/ppt/charts/chart5.xml"/><Relationship Id="rId3" Type="http://schemas.openxmlformats.org/officeDocument/2006/relationships/image" Target="../media/image-5-1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6.xml"/><Relationship Id="rId2" Type="http://schemas.openxmlformats.org/officeDocument/2006/relationships/chart" Target="/ppt/charts/chart7.xml"/><Relationship Id="rId3" Type="http://schemas.openxmlformats.org/officeDocument/2006/relationships/image" Target="../media/image-6-1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8.xml"/><Relationship Id="rId2" Type="http://schemas.openxmlformats.org/officeDocument/2006/relationships/chart" Target="/ppt/charts/chart9.xml"/><Relationship Id="rId3" Type="http://schemas.openxmlformats.org/officeDocument/2006/relationships/image" Target="../media/image-7-1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0.xml"/><Relationship Id="rId2" Type="http://schemas.openxmlformats.org/officeDocument/2006/relationships/image" Target="../media/image-8-1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457200" cy="5143500"/>
          </a:xfrm>
          <a:prstGeom prst="rect">
            <a:avLst/>
          </a:prstGeom>
          <a:solidFill>
            <a:srgbClr val="0EA5E9"/>
          </a:solidFill>
          <a:ln w="12700">
            <a:solidFill>
              <a:srgbClr val="0EA5E9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4389120"/>
            <a:ext cx="9144000" cy="754380"/>
          </a:xfrm>
          <a:prstGeom prst="rect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498080" y="274320"/>
            <a:ext cx="1371600" cy="621792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731520" y="1097280"/>
            <a:ext cx="77724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Employee Attrition</a:t>
            </a:r>
            <a:endParaRPr lang="en-US" sz="4400" dirty="0"/>
          </a:p>
        </p:txBody>
      </p:sp>
      <p:sp>
        <p:nvSpPr>
          <p:cNvPr id="6" name="Text 3"/>
          <p:cNvSpPr/>
          <p:nvPr/>
        </p:nvSpPr>
        <p:spPr>
          <a:xfrm>
            <a:off x="731520" y="1828800"/>
            <a:ext cx="7772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dirty="0">
                <a:solidFill>
                  <a:srgbClr val="0EA5E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Analysis &amp; Insights</a:t>
            </a:r>
            <a:endParaRPr lang="en-US" sz="3600" dirty="0"/>
          </a:p>
        </p:txBody>
      </p:sp>
      <p:sp>
        <p:nvSpPr>
          <p:cNvPr id="7" name="Text 4"/>
          <p:cNvSpPr/>
          <p:nvPr/>
        </p:nvSpPr>
        <p:spPr>
          <a:xfrm>
            <a:off x="731520" y="2560320"/>
            <a:ext cx="7772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comprehensive EDA study on 59,598 employees</a:t>
            </a:r>
            <a:endParaRPr lang="en-US" sz="1600" dirty="0"/>
          </a:p>
        </p:txBody>
      </p:sp>
      <p:sp>
        <p:nvSpPr>
          <p:cNvPr id="8" name="Text 5"/>
          <p:cNvSpPr/>
          <p:nvPr/>
        </p:nvSpPr>
        <p:spPr>
          <a:xfrm>
            <a:off x="731520" y="2926080"/>
            <a:ext cx="7772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Identifying key drivers of employee turnover</a:t>
            </a:r>
            <a:endParaRPr lang="en-US" sz="1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228600"/>
            <a:ext cx="8412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Executive Summary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365760" y="758952"/>
            <a:ext cx="8412480" cy="27432"/>
          </a:xfrm>
          <a:prstGeom prst="rect">
            <a:avLst/>
          </a:prstGeom>
          <a:solidFill>
            <a:srgbClr val="0EA5E9"/>
          </a:solidFill>
          <a:ln w="12700">
            <a:solidFill>
              <a:srgbClr val="0EA5E9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320040" y="914400"/>
            <a:ext cx="1920240" cy="1280160"/>
          </a:xfrm>
          <a:prstGeom prst="rect">
            <a:avLst/>
          </a:prstGeom>
          <a:solidFill>
            <a:srgbClr val="E0F2FE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7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320040" y="960120"/>
            <a:ext cx="19202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0EA5E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59,598</a:t>
            </a:r>
            <a:endParaRPr lang="en-US" sz="2600" dirty="0"/>
          </a:p>
        </p:txBody>
      </p:sp>
      <p:sp>
        <p:nvSpPr>
          <p:cNvPr id="6" name="Text 4"/>
          <p:cNvSpPr/>
          <p:nvPr/>
        </p:nvSpPr>
        <p:spPr>
          <a:xfrm>
            <a:off x="320040" y="1508760"/>
            <a:ext cx="1920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Employees Analyzed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2468880" y="914400"/>
            <a:ext cx="1920240" cy="1280160"/>
          </a:xfrm>
          <a:prstGeom prst="rect">
            <a:avLst/>
          </a:prstGeom>
          <a:solidFill>
            <a:srgbClr val="FEE2E2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7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2468880" y="960120"/>
            <a:ext cx="19202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47.55%</a:t>
            </a:r>
            <a:endParaRPr lang="en-US" sz="2600" dirty="0"/>
          </a:p>
        </p:txBody>
      </p:sp>
      <p:sp>
        <p:nvSpPr>
          <p:cNvPr id="9" name="Text 7"/>
          <p:cNvSpPr/>
          <p:nvPr/>
        </p:nvSpPr>
        <p:spPr>
          <a:xfrm>
            <a:off x="2468880" y="1508760"/>
            <a:ext cx="1920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Overall Attrition Rate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4617720" y="914400"/>
            <a:ext cx="1920240" cy="1280160"/>
          </a:xfrm>
          <a:prstGeom prst="rect">
            <a:avLst/>
          </a:prstGeom>
          <a:solidFill>
            <a:srgbClr val="D1FAE5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7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4617720" y="960120"/>
            <a:ext cx="19202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52.45%</a:t>
            </a:r>
            <a:endParaRPr lang="en-US" sz="2600" dirty="0"/>
          </a:p>
        </p:txBody>
      </p:sp>
      <p:sp>
        <p:nvSpPr>
          <p:cNvPr id="12" name="Text 10"/>
          <p:cNvSpPr/>
          <p:nvPr/>
        </p:nvSpPr>
        <p:spPr>
          <a:xfrm>
            <a:off x="4617720" y="1508760"/>
            <a:ext cx="1920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Retention Rate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6766560" y="914400"/>
            <a:ext cx="1920240" cy="1280160"/>
          </a:xfrm>
          <a:prstGeom prst="rect">
            <a:avLst/>
          </a:prstGeom>
          <a:solidFill>
            <a:srgbClr val="FEF3C7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7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6766560" y="960120"/>
            <a:ext cx="19202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22 EDA</a:t>
            </a:r>
            <a:endParaRPr lang="en-US" sz="2600" dirty="0"/>
          </a:p>
        </p:txBody>
      </p:sp>
      <p:sp>
        <p:nvSpPr>
          <p:cNvPr id="15" name="Text 13"/>
          <p:cNvSpPr/>
          <p:nvPr/>
        </p:nvSpPr>
        <p:spPr>
          <a:xfrm>
            <a:off x="6766560" y="1508760"/>
            <a:ext cx="1920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Questions Investigated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365760" y="237744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Findings: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457200" y="2697480"/>
            <a:ext cx="822960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Nearly half of employees left — indicating a critical retention challenge.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Remote work is the strongest single retention factor (attrition drops from 52.9% → 24.9%).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Entry-level employees are the highest-risk group at 63.2% attrition rate.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Work-life balance and career progression are the top systemic drivers.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Salary alone shows only weak correlation with attrition decisions.</a:t>
            </a:r>
            <a:endParaRPr lang="en-US" sz="1300" dirty="0"/>
          </a:p>
        </p:txBody>
      </p:sp>
      <p:pic>
        <p:nvPicPr>
          <p:cNvPr id="18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955280" y="4480560"/>
            <a:ext cx="914400" cy="41148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228600"/>
            <a:ext cx="8412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Attrition by Demographics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365760" y="758952"/>
            <a:ext cx="8412480" cy="27432"/>
          </a:xfrm>
          <a:prstGeom prst="rect">
            <a:avLst/>
          </a:prstGeom>
          <a:solidFill>
            <a:srgbClr val="0EA5E9"/>
          </a:solidFill>
          <a:ln w="12700">
            <a:solidFill>
              <a:srgbClr val="0EA5E9"/>
            </a:solidFill>
            <a:prstDash val="solid"/>
          </a:ln>
        </p:spPr>
      </p:sp>
      <p:graphicFrame>
        <p:nvGraphicFramePr>
          <p:cNvPr id="4" name="Chart 0" descr=""/>
          <p:cNvGraphicFramePr/>
          <p:nvPr/>
        </p:nvGraphicFramePr>
        <p:xfrm>
          <a:off x="274320" y="914400"/>
          <a:ext cx="4114800" cy="274320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graphicFrame>
        <p:nvGraphicFramePr>
          <p:cNvPr id="5" name="Chart 1" descr=""/>
          <p:cNvGraphicFramePr/>
          <p:nvPr/>
        </p:nvGraphicFramePr>
        <p:xfrm>
          <a:off x="4754880" y="914400"/>
          <a:ext cx="4114800" cy="274320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6" name="Text 2"/>
          <p:cNvSpPr/>
          <p:nvPr/>
        </p:nvSpPr>
        <p:spPr>
          <a:xfrm>
            <a:off x="365760" y="3749040"/>
            <a:ext cx="8412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⚑ Single employees are nearly twice as likely to leave as married employees.</a:t>
            </a:r>
            <a:endParaRPr lang="en-US" sz="1200" dirty="0"/>
          </a:p>
        </p:txBody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955280" y="4480560"/>
            <a:ext cx="914400" cy="41148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228600"/>
            <a:ext cx="8412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Job Level &amp; Role Impact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365760" y="758952"/>
            <a:ext cx="8412480" cy="27432"/>
          </a:xfrm>
          <a:prstGeom prst="rect">
            <a:avLst/>
          </a:prstGeom>
          <a:solidFill>
            <a:srgbClr val="0EA5E9"/>
          </a:solidFill>
          <a:ln w="12700">
            <a:solidFill>
              <a:srgbClr val="0EA5E9"/>
            </a:solidFill>
            <a:prstDash val="solid"/>
          </a:ln>
        </p:spPr>
      </p:sp>
      <p:graphicFrame>
        <p:nvGraphicFramePr>
          <p:cNvPr id="4" name="Chart 0" descr=""/>
          <p:cNvGraphicFramePr/>
          <p:nvPr/>
        </p:nvGraphicFramePr>
        <p:xfrm>
          <a:off x="274320" y="914400"/>
          <a:ext cx="5029200" cy="292608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graphicFrame>
        <p:nvGraphicFramePr>
          <p:cNvPr id="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669280" y="1005840"/>
          <a:ext cx="3200400" cy="2651760"/>
        </p:xfrm>
        <a:graphic>
          <a:graphicData uri="http://schemas.openxmlformats.org/drawingml/2006/table">
            <a:tbl>
              <a:tblPr/>
              <a:tblGrid>
                <a:gridCol w="2103120"/>
                <a:gridCol w="1097280"/>
              </a:tblGrid>
              <a:tr h="4419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</a:rPr>
                        <a:t>Job Role</a:t>
                      </a:r>
                      <a:endParaRPr lang="en-US" sz="13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A5E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</a:rPr>
                        <a:t>Attrition %</a:t>
                      </a:r>
                      <a:endParaRPr lang="en-US" sz="13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A5E9"/>
                    </a:solidFill>
                  </a:tcPr>
                </a:tc>
              </a:tr>
              <a:tr h="4419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0F172A"/>
                          </a:solidFill>
                        </a:rPr>
                        <a:t>Education</a:t>
                      </a:r>
                      <a:endParaRPr lang="en-US" sz="13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0F172A"/>
                          </a:solidFill>
                        </a:rPr>
                        <a:t>48.72%</a:t>
                      </a:r>
                      <a:endParaRPr lang="en-US" sz="13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419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0F172A"/>
                          </a:solidFill>
                        </a:rPr>
                        <a:t>Media</a:t>
                      </a:r>
                      <a:endParaRPr lang="en-US" sz="13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0F172A"/>
                          </a:solidFill>
                        </a:rPr>
                        <a:t>47.44%</a:t>
                      </a:r>
                      <a:endParaRPr lang="en-US" sz="13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</a:tr>
              <a:tr h="4419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0F172A"/>
                          </a:solidFill>
                        </a:rPr>
                        <a:t>Healthcare</a:t>
                      </a:r>
                      <a:endParaRPr lang="en-US" sz="13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0F172A"/>
                          </a:solidFill>
                        </a:rPr>
                        <a:t>47.31%</a:t>
                      </a:r>
                      <a:endParaRPr lang="en-US" sz="13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419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0F172A"/>
                          </a:solidFill>
                        </a:rPr>
                        <a:t>Technology</a:t>
                      </a:r>
                      <a:endParaRPr lang="en-US" sz="13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0F172A"/>
                          </a:solidFill>
                        </a:rPr>
                        <a:t>47.29%</a:t>
                      </a:r>
                      <a:endParaRPr lang="en-US" sz="13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</a:tr>
              <a:tr h="4419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0F172A"/>
                          </a:solidFill>
                        </a:rPr>
                        <a:t>Finance</a:t>
                      </a:r>
                      <a:endParaRPr lang="en-US" sz="13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0F172A"/>
                          </a:solidFill>
                        </a:rPr>
                        <a:t>46.80%</a:t>
                      </a:r>
                      <a:endParaRPr lang="en-US" sz="13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Text 2"/>
          <p:cNvSpPr/>
          <p:nvPr/>
        </p:nvSpPr>
        <p:spPr>
          <a:xfrm>
            <a:off x="5669280" y="822960"/>
            <a:ext cx="3200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Attrition by Department</a:t>
            </a:r>
            <a:endParaRPr lang="en-US" sz="1200" dirty="0"/>
          </a:p>
        </p:txBody>
      </p:sp>
      <p:sp>
        <p:nvSpPr>
          <p:cNvPr id="7" name="Text 3"/>
          <p:cNvSpPr/>
          <p:nvPr/>
        </p:nvSpPr>
        <p:spPr>
          <a:xfrm>
            <a:off x="365760" y="3840480"/>
            <a:ext cx="8412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Entry-level employees are 3x more likely to leave than senior employees.</a:t>
            </a:r>
            <a:endParaRPr lang="en-US" sz="1200" dirty="0"/>
          </a:p>
        </p:txBody>
      </p:sp>
      <p:pic>
        <p:nvPicPr>
          <p:cNvPr id="8" name="Image 0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955280" y="4480560"/>
            <a:ext cx="914400" cy="41148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228600"/>
            <a:ext cx="8412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Work-Life Balance &amp; Job Satisfaction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365760" y="758952"/>
            <a:ext cx="8412480" cy="27432"/>
          </a:xfrm>
          <a:prstGeom prst="rect">
            <a:avLst/>
          </a:prstGeom>
          <a:solidFill>
            <a:srgbClr val="0EA5E9"/>
          </a:solidFill>
          <a:ln w="12700">
            <a:solidFill>
              <a:srgbClr val="0EA5E9"/>
            </a:solidFill>
            <a:prstDash val="solid"/>
          </a:ln>
        </p:spPr>
      </p:sp>
      <p:graphicFrame>
        <p:nvGraphicFramePr>
          <p:cNvPr id="4" name="Chart 0" descr=""/>
          <p:cNvGraphicFramePr/>
          <p:nvPr/>
        </p:nvGraphicFramePr>
        <p:xfrm>
          <a:off x="274320" y="914400"/>
          <a:ext cx="4114800" cy="265176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graphicFrame>
        <p:nvGraphicFramePr>
          <p:cNvPr id="5" name="Chart 1" descr=""/>
          <p:cNvGraphicFramePr/>
          <p:nvPr/>
        </p:nvGraphicFramePr>
        <p:xfrm>
          <a:off x="4754880" y="914400"/>
          <a:ext cx="4114800" cy="265176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6" name="Text 2"/>
          <p:cNvSpPr/>
          <p:nvPr/>
        </p:nvSpPr>
        <p:spPr>
          <a:xfrm>
            <a:off x="365760" y="3794760"/>
            <a:ext cx="8412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Work-life balance has a linear relationship with attrition; satisfaction shows a more complex U-shape pattern.</a:t>
            </a:r>
            <a:endParaRPr lang="en-US" sz="1200" dirty="0"/>
          </a:p>
        </p:txBody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955280" y="4480560"/>
            <a:ext cx="914400" cy="41148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228600"/>
            <a:ext cx="8412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Remote Work &amp; Commute Distance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365760" y="758952"/>
            <a:ext cx="8412480" cy="27432"/>
          </a:xfrm>
          <a:prstGeom prst="rect">
            <a:avLst/>
          </a:prstGeom>
          <a:solidFill>
            <a:srgbClr val="0EA5E9"/>
          </a:solidFill>
          <a:ln w="12700">
            <a:solidFill>
              <a:srgbClr val="0EA5E9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365760" y="914400"/>
            <a:ext cx="3931920" cy="2286000"/>
          </a:xfrm>
          <a:prstGeom prst="rect">
            <a:avLst/>
          </a:prstGeom>
          <a:solidFill>
            <a:srgbClr val="E0F2FE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7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457200" y="1005840"/>
            <a:ext cx="3749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369A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Remote Work Impact</a:t>
            </a:r>
            <a:endParaRPr lang="en-US" sz="1400" dirty="0"/>
          </a:p>
        </p:txBody>
      </p:sp>
      <p:graphicFrame>
        <p:nvGraphicFramePr>
          <p:cNvPr id="6" name="Chart 0" descr=""/>
          <p:cNvGraphicFramePr/>
          <p:nvPr/>
        </p:nvGraphicFramePr>
        <p:xfrm>
          <a:off x="457200" y="1280160"/>
          <a:ext cx="3657600" cy="182880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7" name="Shape 4"/>
          <p:cNvSpPr/>
          <p:nvPr/>
        </p:nvSpPr>
        <p:spPr>
          <a:xfrm>
            <a:off x="4572000" y="914400"/>
            <a:ext cx="4297680" cy="2286000"/>
          </a:xfrm>
          <a:prstGeom prst="rect">
            <a:avLst/>
          </a:prstGeom>
          <a:solidFill>
            <a:srgbClr val="FFF7ED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7000"/>
              </a:srgbClr>
            </a:outerShdw>
          </a:effectLst>
        </p:spPr>
      </p:sp>
      <p:sp>
        <p:nvSpPr>
          <p:cNvPr id="8" name="Text 5"/>
          <p:cNvSpPr/>
          <p:nvPr/>
        </p:nvSpPr>
        <p:spPr>
          <a:xfrm>
            <a:off x="4663440" y="1005840"/>
            <a:ext cx="4023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Commute Distance</a:t>
            </a:r>
            <a:endParaRPr lang="en-US" sz="1400" dirty="0"/>
          </a:p>
        </p:txBody>
      </p:sp>
      <p:graphicFrame>
        <p:nvGraphicFramePr>
          <p:cNvPr id="9" name="Chart 1" descr=""/>
          <p:cNvGraphicFramePr/>
          <p:nvPr/>
        </p:nvGraphicFramePr>
        <p:xfrm>
          <a:off x="4663440" y="1325880"/>
          <a:ext cx="3931920" cy="178308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10" name="Text 6"/>
          <p:cNvSpPr/>
          <p:nvPr/>
        </p:nvSpPr>
        <p:spPr>
          <a:xfrm>
            <a:off x="365760" y="3383280"/>
            <a:ext cx="8412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Remote work alone cuts attrition by more than half — the single most impactful retention lever in this dataset.</a:t>
            </a:r>
            <a:endParaRPr lang="en-US" sz="1200" dirty="0"/>
          </a:p>
        </p:txBody>
      </p:sp>
      <p:sp>
        <p:nvSpPr>
          <p:cNvPr id="11" name="Shape 7"/>
          <p:cNvSpPr/>
          <p:nvPr/>
        </p:nvSpPr>
        <p:spPr>
          <a:xfrm>
            <a:off x="365760" y="3840480"/>
            <a:ext cx="8412480" cy="640080"/>
          </a:xfrm>
          <a:prstGeom prst="rect">
            <a:avLst/>
          </a:prstGeom>
          <a:solidFill>
            <a:srgbClr val="F0FDF4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7000"/>
              </a:srgbClr>
            </a:outerShdw>
          </a:effectLst>
        </p:spPr>
      </p:sp>
      <p:sp>
        <p:nvSpPr>
          <p:cNvPr id="12" name="Text 8"/>
          <p:cNvSpPr/>
          <p:nvPr/>
        </p:nvSpPr>
        <p:spPr>
          <a:xfrm>
            <a:off x="457200" y="3931920"/>
            <a:ext cx="8046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In-Office Attrition: </a:t>
            </a:r>
            <a:pPr algn="ctr" indent="0" marL="0">
              <a:buNone/>
            </a:pPr>
            <a:r>
              <a:rPr lang="en-US" sz="1300" dirty="0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52.89%   </a:t>
            </a:r>
            <a:pPr algn="ctr" indent="0" marL="0">
              <a:buNone/>
            </a:pPr>
            <a:r>
              <a:rPr lang="en-US" sz="13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| </a:t>
            </a:r>
            <a:pPr algn="ctr" indent="0" marL="0">
              <a:buNone/>
            </a:pPr>
            <a:r>
              <a:rPr lang="en-US" sz="130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Remote Attrition: </a:t>
            </a:r>
            <a:pPr algn="ctr" indent="0" marL="0">
              <a:buNone/>
            </a:pPr>
            <a:r>
              <a:rPr lang="en-US" sz="1300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24.86%   </a:t>
            </a:r>
            <a:pPr algn="ctr" indent="0" marL="0">
              <a:buNone/>
            </a:pPr>
            <a:r>
              <a:rPr lang="en-US" sz="13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| </a:t>
            </a:r>
            <a:pPr algn="ctr" indent="0" marL="0">
              <a:buNone/>
            </a:pPr>
            <a:r>
              <a:rPr lang="en-US" sz="13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Difference: </a:t>
            </a:r>
            <a:pPr algn="ctr" indent="0" marL="0">
              <a:buNone/>
            </a:pPr>
            <a:r>
              <a:rPr lang="en-US" sz="13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~28 percentage points</a:t>
            </a:r>
            <a:endParaRPr lang="en-US" sz="1300" dirty="0"/>
          </a:p>
        </p:txBody>
      </p:sp>
      <p:pic>
        <p:nvPicPr>
          <p:cNvPr id="13" name="Image 0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955280" y="4480560"/>
            <a:ext cx="914400" cy="41148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228600"/>
            <a:ext cx="8412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Career Growth &amp; Compensation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365760" y="758952"/>
            <a:ext cx="8412480" cy="27432"/>
          </a:xfrm>
          <a:prstGeom prst="rect">
            <a:avLst/>
          </a:prstGeom>
          <a:solidFill>
            <a:srgbClr val="0EA5E9"/>
          </a:solidFill>
          <a:ln w="12700">
            <a:solidFill>
              <a:srgbClr val="0EA5E9"/>
            </a:solidFill>
            <a:prstDash val="solid"/>
          </a:ln>
        </p:spPr>
      </p:sp>
      <p:graphicFrame>
        <p:nvGraphicFramePr>
          <p:cNvPr id="4" name="Chart 0" descr=""/>
          <p:cNvGraphicFramePr/>
          <p:nvPr/>
        </p:nvGraphicFramePr>
        <p:xfrm>
          <a:off x="274320" y="914400"/>
          <a:ext cx="4114800" cy="228600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graphicFrame>
        <p:nvGraphicFramePr>
          <p:cNvPr id="5" name="Chart 1" descr=""/>
          <p:cNvGraphicFramePr/>
          <p:nvPr/>
        </p:nvGraphicFramePr>
        <p:xfrm>
          <a:off x="4754880" y="914400"/>
          <a:ext cx="4114800" cy="228600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6" name="Shape 2"/>
          <p:cNvSpPr/>
          <p:nvPr/>
        </p:nvSpPr>
        <p:spPr>
          <a:xfrm>
            <a:off x="365760" y="3383280"/>
            <a:ext cx="8412480" cy="777240"/>
          </a:xfrm>
          <a:prstGeom prst="rect">
            <a:avLst/>
          </a:prstGeom>
          <a:solidFill>
            <a:srgbClr val="FEF3C7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7000"/>
              </a:srgbClr>
            </a:outerShdw>
          </a:effectLst>
        </p:spPr>
      </p:sp>
      <p:sp>
        <p:nvSpPr>
          <p:cNvPr id="7" name="Text 3"/>
          <p:cNvSpPr/>
          <p:nvPr/>
        </p:nvSpPr>
        <p:spPr>
          <a:xfrm>
            <a:off x="548640" y="3456432"/>
            <a:ext cx="8046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Insight: </a:t>
            </a:r>
            <a:pPr indent="0" marL="0">
              <a:buNone/>
            </a:pPr>
            <a:r>
              <a:rPr lang="en-US" sz="12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Career progression (promotions) has a stronger influence on retention than salary alone. The income gap between stayers and leavers is only ~$49/month — virtually negligible — while promotion frequency shows a more meaningful difference.</a:t>
            </a:r>
            <a:endParaRPr lang="en-US" sz="1200" dirty="0"/>
          </a:p>
        </p:txBody>
      </p:sp>
      <p:pic>
        <p:nvPicPr>
          <p:cNvPr id="8" name="Image 0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955280" y="4480560"/>
            <a:ext cx="914400" cy="41148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228600"/>
            <a:ext cx="8412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Company Reputation &amp; Recognition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365760" y="758952"/>
            <a:ext cx="8412480" cy="27432"/>
          </a:xfrm>
          <a:prstGeom prst="rect">
            <a:avLst/>
          </a:prstGeom>
          <a:solidFill>
            <a:srgbClr val="0EA5E9"/>
          </a:solidFill>
          <a:ln w="12700">
            <a:solidFill>
              <a:srgbClr val="0EA5E9"/>
            </a:solidFill>
            <a:prstDash val="solid"/>
          </a:ln>
        </p:spPr>
      </p:sp>
      <p:graphicFrame>
        <p:nvGraphicFramePr>
          <p:cNvPr id="4" name="Chart 0" descr=""/>
          <p:cNvGraphicFramePr/>
          <p:nvPr/>
        </p:nvGraphicFramePr>
        <p:xfrm>
          <a:off x="274320" y="914400"/>
          <a:ext cx="4114800" cy="274320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5" name="Text 2"/>
          <p:cNvSpPr/>
          <p:nvPr/>
        </p:nvSpPr>
        <p:spPr>
          <a:xfrm>
            <a:off x="4754880" y="914400"/>
            <a:ext cx="4206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Employee Recognition Impact</a:t>
            </a:r>
            <a:endParaRPr lang="en-US" sz="1300" dirty="0"/>
          </a:p>
        </p:txBody>
      </p:sp>
      <p:sp>
        <p:nvSpPr>
          <p:cNvPr id="6" name="Shape 3"/>
          <p:cNvSpPr/>
          <p:nvPr/>
        </p:nvSpPr>
        <p:spPr>
          <a:xfrm>
            <a:off x="4754880" y="1280160"/>
            <a:ext cx="4206240" cy="502920"/>
          </a:xfrm>
          <a:prstGeom prst="rect">
            <a:avLst/>
          </a:prstGeom>
          <a:solidFill>
            <a:srgbClr val="FEE2E2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7000"/>
              </a:srgbClr>
            </a:outerShdw>
          </a:effectLst>
        </p:spPr>
      </p:sp>
      <p:sp>
        <p:nvSpPr>
          <p:cNvPr id="7" name="Text 4"/>
          <p:cNvSpPr/>
          <p:nvPr/>
        </p:nvSpPr>
        <p:spPr>
          <a:xfrm>
            <a:off x="4892040" y="1371600"/>
            <a:ext cx="2743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Low Recognition</a:t>
            </a:r>
            <a:endParaRPr lang="en-US" sz="1200" dirty="0"/>
          </a:p>
        </p:txBody>
      </p:sp>
      <p:sp>
        <p:nvSpPr>
          <p:cNvPr id="8" name="Text 5"/>
          <p:cNvSpPr/>
          <p:nvPr/>
        </p:nvSpPr>
        <p:spPr>
          <a:xfrm>
            <a:off x="7589520" y="1371600"/>
            <a:ext cx="11887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47.83%</a:t>
            </a:r>
            <a:endParaRPr lang="en-US" sz="1400" dirty="0"/>
          </a:p>
        </p:txBody>
      </p:sp>
      <p:sp>
        <p:nvSpPr>
          <p:cNvPr id="9" name="Shape 6"/>
          <p:cNvSpPr/>
          <p:nvPr/>
        </p:nvSpPr>
        <p:spPr>
          <a:xfrm>
            <a:off x="4754880" y="1874520"/>
            <a:ext cx="4206240" cy="502920"/>
          </a:xfrm>
          <a:prstGeom prst="rect">
            <a:avLst/>
          </a:prstGeom>
          <a:solidFill>
            <a:srgbClr val="FEF3C7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7000"/>
              </a:srgbClr>
            </a:outerShdw>
          </a:effectLst>
        </p:spPr>
      </p:sp>
      <p:sp>
        <p:nvSpPr>
          <p:cNvPr id="10" name="Text 7"/>
          <p:cNvSpPr/>
          <p:nvPr/>
        </p:nvSpPr>
        <p:spPr>
          <a:xfrm>
            <a:off x="4892040" y="1965960"/>
            <a:ext cx="2743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Medium Recognition</a:t>
            </a:r>
            <a:endParaRPr lang="en-US" sz="1200" dirty="0"/>
          </a:p>
        </p:txBody>
      </p:sp>
      <p:sp>
        <p:nvSpPr>
          <p:cNvPr id="11" name="Text 8"/>
          <p:cNvSpPr/>
          <p:nvPr/>
        </p:nvSpPr>
        <p:spPr>
          <a:xfrm>
            <a:off x="7589520" y="1965960"/>
            <a:ext cx="11887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47.71%</a:t>
            </a:r>
            <a:endParaRPr lang="en-US" sz="1400" dirty="0"/>
          </a:p>
        </p:txBody>
      </p:sp>
      <p:sp>
        <p:nvSpPr>
          <p:cNvPr id="12" name="Shape 9"/>
          <p:cNvSpPr/>
          <p:nvPr/>
        </p:nvSpPr>
        <p:spPr>
          <a:xfrm>
            <a:off x="4754880" y="2468880"/>
            <a:ext cx="4206240" cy="502920"/>
          </a:xfrm>
          <a:prstGeom prst="rect">
            <a:avLst/>
          </a:prstGeom>
          <a:solidFill>
            <a:srgbClr val="E0F2FE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7000"/>
              </a:srgbClr>
            </a:outerShdw>
          </a:effectLst>
        </p:spPr>
      </p:sp>
      <p:sp>
        <p:nvSpPr>
          <p:cNvPr id="13" name="Text 10"/>
          <p:cNvSpPr/>
          <p:nvPr/>
        </p:nvSpPr>
        <p:spPr>
          <a:xfrm>
            <a:off x="4892040" y="2560320"/>
            <a:ext cx="2743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 Recognition</a:t>
            </a:r>
            <a:endParaRPr lang="en-US" sz="1200" dirty="0"/>
          </a:p>
        </p:txBody>
      </p:sp>
      <p:sp>
        <p:nvSpPr>
          <p:cNvPr id="14" name="Text 11"/>
          <p:cNvSpPr/>
          <p:nvPr/>
        </p:nvSpPr>
        <p:spPr>
          <a:xfrm>
            <a:off x="7589520" y="2560320"/>
            <a:ext cx="11887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EA5E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47.18%</a:t>
            </a:r>
            <a:endParaRPr lang="en-US" sz="1400" dirty="0"/>
          </a:p>
        </p:txBody>
      </p:sp>
      <p:sp>
        <p:nvSpPr>
          <p:cNvPr id="15" name="Shape 12"/>
          <p:cNvSpPr/>
          <p:nvPr/>
        </p:nvSpPr>
        <p:spPr>
          <a:xfrm>
            <a:off x="4754880" y="3063240"/>
            <a:ext cx="4206240" cy="502920"/>
          </a:xfrm>
          <a:prstGeom prst="rect">
            <a:avLst/>
          </a:prstGeom>
          <a:solidFill>
            <a:srgbClr val="D1FAE5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7000"/>
              </a:srgbClr>
            </a:outerShdw>
          </a:effectLst>
        </p:spPr>
      </p:sp>
      <p:sp>
        <p:nvSpPr>
          <p:cNvPr id="16" name="Text 13"/>
          <p:cNvSpPr/>
          <p:nvPr/>
        </p:nvSpPr>
        <p:spPr>
          <a:xfrm>
            <a:off x="4892040" y="3154680"/>
            <a:ext cx="2743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Very High Recognition</a:t>
            </a:r>
            <a:endParaRPr lang="en-US" sz="1200" dirty="0"/>
          </a:p>
        </p:txBody>
      </p:sp>
      <p:sp>
        <p:nvSpPr>
          <p:cNvPr id="17" name="Text 14"/>
          <p:cNvSpPr/>
          <p:nvPr/>
        </p:nvSpPr>
        <p:spPr>
          <a:xfrm>
            <a:off x="7589520" y="3154680"/>
            <a:ext cx="11887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46.14%</a:t>
            </a:r>
            <a:endParaRPr lang="en-US" sz="1400" dirty="0"/>
          </a:p>
        </p:txBody>
      </p:sp>
      <p:sp>
        <p:nvSpPr>
          <p:cNvPr id="18" name="Text 15"/>
          <p:cNvSpPr/>
          <p:nvPr/>
        </p:nvSpPr>
        <p:spPr>
          <a:xfrm>
            <a:off x="365760" y="3794760"/>
            <a:ext cx="8412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Company reputation significantly reduces attrition; recognition has a more modest effect.</a:t>
            </a:r>
            <a:endParaRPr lang="en-US" sz="1200" dirty="0"/>
          </a:p>
        </p:txBody>
      </p:sp>
      <p:pic>
        <p:nvPicPr>
          <p:cNvPr id="19" name="Image 0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955280" y="4480560"/>
            <a:ext cx="914400" cy="41148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228600"/>
            <a:ext cx="8412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 Drivers of Attrition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365760" y="758952"/>
            <a:ext cx="8412480" cy="27432"/>
          </a:xfrm>
          <a:prstGeom prst="rect">
            <a:avLst/>
          </a:prstGeom>
          <a:solidFill>
            <a:srgbClr val="0EA5E9"/>
          </a:solidFill>
          <a:ln w="12700">
            <a:solidFill>
              <a:srgbClr val="0EA5E9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274320" y="914400"/>
            <a:ext cx="3977640" cy="3108960"/>
          </a:xfrm>
          <a:prstGeom prst="rect">
            <a:avLst/>
          </a:prstGeom>
          <a:solidFill>
            <a:srgbClr val="FEE2E2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7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365760" y="1005840"/>
            <a:ext cx="37947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Factors That INCREASE Attrition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457200" y="1463040"/>
            <a:ext cx="365760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Poor Work-Life Balance (60.1%)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Entry-Level Position (63.2%)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Long Commute Distance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Single Marital Status (66.8%)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Poor Company Reputation (56.5%)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4572000" y="914400"/>
            <a:ext cx="4297680" cy="3108960"/>
          </a:xfrm>
          <a:prstGeom prst="rect">
            <a:avLst/>
          </a:prstGeom>
          <a:solidFill>
            <a:srgbClr val="D1FAE5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7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4663440" y="1005840"/>
            <a:ext cx="4114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Factors That REDUCE Attrition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4754880" y="1463040"/>
            <a:ext cx="393192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Remote Work Options (24.9%)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Senior Job Level (20.3%)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Excellent Work-Life Balance (35.8%)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Good Company Reputation (42.9%)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Regular Promotions (0.91 avg)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365760" y="4206240"/>
            <a:ext cx="8412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i="1" dirty="0">
                <a:solidFill>
                  <a:srgbClr val="0369A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Workplace flexibility &amp; career progression are the core pillars of retention strategy.</a:t>
            </a:r>
            <a:endParaRPr lang="en-US" sz="1300" dirty="0"/>
          </a:p>
        </p:txBody>
      </p:sp>
      <p:pic>
        <p:nvPicPr>
          <p:cNvPr id="11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955280" y="4480560"/>
            <a:ext cx="914400" cy="41148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228600"/>
            <a:ext cx="8412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Business Recommendations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365760" y="758952"/>
            <a:ext cx="8412480" cy="27432"/>
          </a:xfrm>
          <a:prstGeom prst="rect">
            <a:avLst/>
          </a:prstGeom>
          <a:solidFill>
            <a:srgbClr val="0EA5E9"/>
          </a:solidFill>
          <a:ln w="12700">
            <a:solidFill>
              <a:srgbClr val="0EA5E9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274320" y="914400"/>
            <a:ext cx="2743200" cy="1371600"/>
          </a:xfrm>
          <a:prstGeom prst="rect">
            <a:avLst/>
          </a:prstGeom>
          <a:solidFill>
            <a:srgbClr val="E0F2FE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7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411480" y="987552"/>
            <a:ext cx="411480" cy="411480"/>
          </a:xfrm>
          <a:prstGeom prst="ellipse">
            <a:avLst/>
          </a:prstGeom>
          <a:solidFill>
            <a:srgbClr val="0EA5E9"/>
          </a:solidFill>
          <a:ln w="12700">
            <a:solidFill>
              <a:srgbClr val="0EA5E9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11480" y="1005840"/>
            <a:ext cx="411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914400" y="987552"/>
            <a:ext cx="2011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EA5E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Expand Remote &amp; Hybrid Work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411480" y="1389888"/>
            <a:ext cx="2514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Remote work cuts attrition by 28pp — the highest ROI retention intervention.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3200400" y="914400"/>
            <a:ext cx="2743200" cy="1371600"/>
          </a:xfrm>
          <a:prstGeom prst="rect">
            <a:avLst/>
          </a:prstGeom>
          <a:solidFill>
            <a:srgbClr val="D1FAE5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7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3337560" y="987552"/>
            <a:ext cx="411480" cy="411480"/>
          </a:xfrm>
          <a:prstGeom prst="ellipse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337560" y="1005840"/>
            <a:ext cx="411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3840480" y="987552"/>
            <a:ext cx="2011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Improve Work-Life Balance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3337560" y="1389888"/>
            <a:ext cx="2514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Programs targeting balance can reduce attrition from 60% to 36% (excellent WLB).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6126480" y="914400"/>
            <a:ext cx="2743200" cy="1371600"/>
          </a:xfrm>
          <a:prstGeom prst="rect">
            <a:avLst/>
          </a:prstGeom>
          <a:solidFill>
            <a:srgbClr val="FEF3C7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7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6263640" y="987552"/>
            <a:ext cx="411480" cy="411480"/>
          </a:xfrm>
          <a:prstGeom prst="ellipse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263640" y="1005840"/>
            <a:ext cx="411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6766560" y="987552"/>
            <a:ext cx="2011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Clear Career Pathways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6263640" y="1389888"/>
            <a:ext cx="2514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More promotions correlate with lower attrition. Build transparent growth ladders.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274320" y="2423160"/>
            <a:ext cx="2743200" cy="1371600"/>
          </a:xfrm>
          <a:prstGeom prst="rect">
            <a:avLst/>
          </a:prstGeom>
          <a:solidFill>
            <a:srgbClr val="FEE2E2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7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411480" y="2496312"/>
            <a:ext cx="411480" cy="411480"/>
          </a:xfrm>
          <a:prstGeom prst="ellipse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411480" y="2514600"/>
            <a:ext cx="411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914400" y="2496312"/>
            <a:ext cx="2011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Target Entry-Level Retention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411480" y="2898648"/>
            <a:ext cx="2514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Entry-level employees leave at 63.2%. Focus onboarding &amp; early mentorship here.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3200400" y="2423160"/>
            <a:ext cx="2743200" cy="1371600"/>
          </a:xfrm>
          <a:prstGeom prst="rect">
            <a:avLst/>
          </a:prstGeom>
          <a:solidFill>
            <a:srgbClr val="EDE9FE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7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3337560" y="2496312"/>
            <a:ext cx="411480" cy="411480"/>
          </a:xfrm>
          <a:prstGeom prst="ellipse">
            <a:avLst/>
          </a:prstGeom>
          <a:solidFill>
            <a:srgbClr val="8B5CF6"/>
          </a:solidFill>
          <a:ln w="12700">
            <a:solidFill>
              <a:srgbClr val="8B5CF6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3337560" y="2514600"/>
            <a:ext cx="411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</a:t>
            </a:r>
            <a:endParaRPr lang="en-US" sz="1300" dirty="0"/>
          </a:p>
        </p:txBody>
      </p:sp>
      <p:sp>
        <p:nvSpPr>
          <p:cNvPr id="27" name="Text 25"/>
          <p:cNvSpPr/>
          <p:nvPr/>
        </p:nvSpPr>
        <p:spPr>
          <a:xfrm>
            <a:off x="3840480" y="2496312"/>
            <a:ext cx="2011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8B5C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Flexible Commute Arrangements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3337560" y="2898648"/>
            <a:ext cx="2514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Leavers commute ~5.4 miles more. Flexible hours or remote days ease this burden.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6126480" y="2423160"/>
            <a:ext cx="2743200" cy="1371600"/>
          </a:xfrm>
          <a:prstGeom prst="rect">
            <a:avLst/>
          </a:prstGeom>
          <a:solidFill>
            <a:srgbClr val="CFFAFE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7000"/>
              </a:srgbClr>
            </a:outerShdw>
          </a:effectLst>
        </p:spPr>
      </p:sp>
      <p:sp>
        <p:nvSpPr>
          <p:cNvPr id="30" name="Shape 28"/>
          <p:cNvSpPr/>
          <p:nvPr/>
        </p:nvSpPr>
        <p:spPr>
          <a:xfrm>
            <a:off x="6263640" y="2496312"/>
            <a:ext cx="411480" cy="411480"/>
          </a:xfrm>
          <a:prstGeom prst="ellipse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6263640" y="2514600"/>
            <a:ext cx="411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</a:t>
            </a:r>
            <a:endParaRPr lang="en-US" sz="1300" dirty="0"/>
          </a:p>
        </p:txBody>
      </p:sp>
      <p:sp>
        <p:nvSpPr>
          <p:cNvPr id="32" name="Text 30"/>
          <p:cNvSpPr/>
          <p:nvPr/>
        </p:nvSpPr>
        <p:spPr>
          <a:xfrm>
            <a:off x="6766560" y="2496312"/>
            <a:ext cx="2011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891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Strengthen Employer Branding</a:t>
            </a:r>
            <a:endParaRPr lang="en-US" sz="1100" dirty="0"/>
          </a:p>
        </p:txBody>
      </p:sp>
      <p:sp>
        <p:nvSpPr>
          <p:cNvPr id="33" name="Text 31"/>
          <p:cNvSpPr/>
          <p:nvPr/>
        </p:nvSpPr>
        <p:spPr>
          <a:xfrm>
            <a:off x="6263640" y="2898648"/>
            <a:ext cx="2514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Poor reputation correlates with 56.5% attrition vs 43.9% for excellent reputation.</a:t>
            </a:r>
            <a:endParaRPr lang="en-US" sz="1000" dirty="0"/>
          </a:p>
        </p:txBody>
      </p:sp>
      <p:pic>
        <p:nvPicPr>
          <p:cNvPr id="3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955280" y="4480560"/>
            <a:ext cx="914400" cy="411480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457200" cy="5143500"/>
          </a:xfrm>
          <a:prstGeom prst="rect">
            <a:avLst/>
          </a:prstGeom>
          <a:solidFill>
            <a:srgbClr val="0EA5E9"/>
          </a:solidFill>
          <a:ln w="12700">
            <a:solidFill>
              <a:srgbClr val="0EA5E9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4114800"/>
            <a:ext cx="9144000" cy="1028700"/>
          </a:xfrm>
          <a:prstGeom prst="rect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498080" y="4206240"/>
            <a:ext cx="1371600" cy="621792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731520" y="457200"/>
            <a:ext cx="7772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0EA5E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Conclusion</a:t>
            </a:r>
            <a:endParaRPr lang="en-US" sz="3600" dirty="0"/>
          </a:p>
        </p:txBody>
      </p:sp>
      <p:sp>
        <p:nvSpPr>
          <p:cNvPr id="6" name="Text 3"/>
          <p:cNvSpPr/>
          <p:nvPr/>
        </p:nvSpPr>
        <p:spPr>
          <a:xfrm>
            <a:off x="731520" y="1188720"/>
            <a:ext cx="7772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data is clear: </a:t>
            </a:r>
            <a:pPr indent="0" marL="0">
              <a:buNone/>
            </a:pPr>
            <a:r>
              <a:rPr lang="en-US" sz="15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employee attrition at 47.55% is a major organizational challenge.</a:t>
            </a:r>
            <a:endParaRPr lang="en-US" sz="1500" dirty="0"/>
          </a:p>
        </p:txBody>
      </p:sp>
      <p:sp>
        <p:nvSpPr>
          <p:cNvPr id="7" name="Text 4"/>
          <p:cNvSpPr/>
          <p:nvPr/>
        </p:nvSpPr>
        <p:spPr>
          <a:xfrm>
            <a:off x="731520" y="1737360"/>
            <a:ext cx="777240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Workplace flexibility (especially remote work) is the single largest retention lever</a:t>
            </a:r>
            <a:endParaRPr lang="en-US" sz="1400" dirty="0"/>
          </a:p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Career growth matters more than salary in retention decisions</a:t>
            </a:r>
            <a:endParaRPr lang="en-US" sz="1400" dirty="0"/>
          </a:p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Entry-level and single employees are at highest risk and need targeted programs</a:t>
            </a:r>
            <a:endParaRPr lang="en-US" sz="1400" dirty="0"/>
          </a:p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Work-life balance improvements can cut attrition by over 24 percentage points</a:t>
            </a:r>
            <a:endParaRPr lang="en-US" sz="1400" dirty="0"/>
          </a:p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Employer branding and company reputation directly impact turnover rates</a:t>
            </a:r>
            <a:endParaRPr lang="en-US" sz="1400" dirty="0"/>
          </a:p>
        </p:txBody>
      </p:sp>
      <p:sp>
        <p:nvSpPr>
          <p:cNvPr id="8" name="Text 5"/>
          <p:cNvSpPr/>
          <p:nvPr/>
        </p:nvSpPr>
        <p:spPr>
          <a:xfrm>
            <a:off x="731520" y="3657600"/>
            <a:ext cx="7772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0EA5E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Implementing the 6 recommended initiatives can significantly reduce turnover costs and improve organizational performance.</a:t>
            </a:r>
            <a:endParaRPr lang="en-US" sz="13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11</Slides>
  <Notes>11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4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Employee Attrition Analysis</dc:title>
  <dc:subject>PptxGenJS Presentation</dc:subject>
  <dc:creator>PptxGenJS</dc:creator>
  <cp:lastModifiedBy>PptxGenJS</cp:lastModifiedBy>
  <cp:revision>1</cp:revision>
  <dcterms:created xsi:type="dcterms:W3CDTF">2026-06-04T05:28:22Z</dcterms:created>
  <dcterms:modified xsi:type="dcterms:W3CDTF">2026-06-04T05:28:22Z</dcterms:modified>
</cp:coreProperties>
</file>